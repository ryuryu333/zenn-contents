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4"/>
  </p:notesMasterIdLst>
  <p:sldIdLst>
    <p:sldId id="259" r:id="rId2"/>
    <p:sldId id="258" r:id="rId3"/>
  </p:sldIdLst>
  <p:sldSz cx="18000663" cy="25199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B36"/>
    <a:srgbClr val="4D6FB7"/>
    <a:srgbClr val="FDF6E3"/>
    <a:srgbClr val="EEE8D5"/>
    <a:srgbClr val="77B6E1"/>
    <a:srgbClr val="859900"/>
    <a:srgbClr val="93A1A1"/>
    <a:srgbClr val="839496"/>
    <a:srgbClr val="1E1E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21" d="100"/>
          <a:sy n="21" d="100"/>
        </p:scale>
        <p:origin x="2489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C1E1E-D979-4066-B29A-BD1C8A30ED6F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327275" y="1143000"/>
            <a:ext cx="2203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45CEAD-C6A2-4024-AC80-13DADF51D3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384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5CEAD-C6A2-4024-AC80-13DADF51D364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6533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0050" y="4124164"/>
            <a:ext cx="15300564" cy="8773325"/>
          </a:xfrm>
        </p:spPr>
        <p:txBody>
          <a:bodyPr anchor="b"/>
          <a:lstStyle>
            <a:lvl1pPr algn="ctr">
              <a:defRPr sz="1181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13235822"/>
            <a:ext cx="13500497" cy="6084159"/>
          </a:xfrm>
        </p:spPr>
        <p:txBody>
          <a:bodyPr/>
          <a:lstStyle>
            <a:lvl1pPr marL="0" indent="0" algn="ctr">
              <a:buNone/>
              <a:defRPr sz="4725"/>
            </a:lvl1pPr>
            <a:lvl2pPr marL="900044" indent="0" algn="ctr">
              <a:buNone/>
              <a:defRPr sz="3937"/>
            </a:lvl2pPr>
            <a:lvl3pPr marL="1800088" indent="0" algn="ctr">
              <a:buNone/>
              <a:defRPr sz="3543"/>
            </a:lvl3pPr>
            <a:lvl4pPr marL="2700132" indent="0" algn="ctr">
              <a:buNone/>
              <a:defRPr sz="3150"/>
            </a:lvl4pPr>
            <a:lvl5pPr marL="3600176" indent="0" algn="ctr">
              <a:buNone/>
              <a:defRPr sz="3150"/>
            </a:lvl5pPr>
            <a:lvl6pPr marL="4500220" indent="0" algn="ctr">
              <a:buNone/>
              <a:defRPr sz="3150"/>
            </a:lvl6pPr>
            <a:lvl7pPr marL="5400264" indent="0" algn="ctr">
              <a:buNone/>
              <a:defRPr sz="3150"/>
            </a:lvl7pPr>
            <a:lvl8pPr marL="6300307" indent="0" algn="ctr">
              <a:buNone/>
              <a:defRPr sz="3150"/>
            </a:lvl8pPr>
            <a:lvl9pPr marL="7200351" indent="0" algn="ctr">
              <a:buNone/>
              <a:defRPr sz="315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84142-C44D-43ED-B6FC-9AFBB921F87B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11C-8791-4FF9-88FC-7FA07CF60C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4445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84142-C44D-43ED-B6FC-9AFBB921F87B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11C-8791-4FF9-88FC-7FA07CF60C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3609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1" y="6282501"/>
            <a:ext cx="15525572" cy="10482488"/>
          </a:xfrm>
        </p:spPr>
        <p:txBody>
          <a:bodyPr anchor="b"/>
          <a:lstStyle>
            <a:lvl1pPr>
              <a:defRPr sz="1181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1" y="16864157"/>
            <a:ext cx="15525572" cy="5512493"/>
          </a:xfrm>
        </p:spPr>
        <p:txBody>
          <a:bodyPr/>
          <a:lstStyle>
            <a:lvl1pPr marL="0" indent="0">
              <a:buNone/>
              <a:defRPr sz="4725">
                <a:solidFill>
                  <a:schemeClr val="tx1"/>
                </a:solidFill>
              </a:defRPr>
            </a:lvl1pPr>
            <a:lvl2pPr marL="900044" indent="0">
              <a:buNone/>
              <a:defRPr sz="3937">
                <a:solidFill>
                  <a:schemeClr val="tx1">
                    <a:tint val="75000"/>
                  </a:schemeClr>
                </a:solidFill>
              </a:defRPr>
            </a:lvl2pPr>
            <a:lvl3pPr marL="1800088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3pPr>
            <a:lvl4pPr marL="2700132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4pPr>
            <a:lvl5pPr marL="3600176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5pPr>
            <a:lvl6pPr marL="4500220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6pPr>
            <a:lvl7pPr marL="5400264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7pPr>
            <a:lvl8pPr marL="6300307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8pPr>
            <a:lvl9pPr marL="7200351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84142-C44D-43ED-B6FC-9AFBB921F87B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11C-8791-4FF9-88FC-7FA07CF60C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7324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6708326"/>
            <a:ext cx="7650282" cy="1598915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6708326"/>
            <a:ext cx="7650282" cy="1598915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84142-C44D-43ED-B6FC-9AFBB921F87B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11C-8791-4FF9-88FC-7FA07CF60C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2506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341671"/>
            <a:ext cx="15525572" cy="487083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2" y="6177496"/>
            <a:ext cx="7615123" cy="3027495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2" y="9204991"/>
            <a:ext cx="7615123" cy="1353915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7" y="6177496"/>
            <a:ext cx="7652626" cy="3027495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7" y="9204991"/>
            <a:ext cx="7652626" cy="1353915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84142-C44D-43ED-B6FC-9AFBB921F87B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11C-8791-4FF9-88FC-7FA07CF60C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7766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84142-C44D-43ED-B6FC-9AFBB921F87B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11C-8791-4FF9-88FC-7FA07CF60C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2644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84142-C44D-43ED-B6FC-9AFBB921F87B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11C-8791-4FF9-88FC-7FA07CF60C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2132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679998"/>
            <a:ext cx="5805682" cy="5879994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3628335"/>
            <a:ext cx="9112836" cy="17908316"/>
          </a:xfrm>
        </p:spPr>
        <p:txBody>
          <a:bodyPr/>
          <a:lstStyle>
            <a:lvl1pPr>
              <a:defRPr sz="6300"/>
            </a:lvl1pPr>
            <a:lvl2pPr>
              <a:defRPr sz="5512"/>
            </a:lvl2pPr>
            <a:lvl3pPr>
              <a:defRPr sz="4725"/>
            </a:lvl3pPr>
            <a:lvl4pPr>
              <a:defRPr sz="3937"/>
            </a:lvl4pPr>
            <a:lvl5pPr>
              <a:defRPr sz="3937"/>
            </a:lvl5pPr>
            <a:lvl6pPr>
              <a:defRPr sz="3937"/>
            </a:lvl6pPr>
            <a:lvl7pPr>
              <a:defRPr sz="3937"/>
            </a:lvl7pPr>
            <a:lvl8pPr>
              <a:defRPr sz="3937"/>
            </a:lvl8pPr>
            <a:lvl9pPr>
              <a:defRPr sz="3937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7559993"/>
            <a:ext cx="5805682" cy="14005821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84142-C44D-43ED-B6FC-9AFBB921F87B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11C-8791-4FF9-88FC-7FA07CF60C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0897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679998"/>
            <a:ext cx="5805682" cy="5879994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3628335"/>
            <a:ext cx="9112836" cy="17908316"/>
          </a:xfrm>
        </p:spPr>
        <p:txBody>
          <a:bodyPr anchor="t"/>
          <a:lstStyle>
            <a:lvl1pPr marL="0" indent="0">
              <a:buNone/>
              <a:defRPr sz="6300"/>
            </a:lvl1pPr>
            <a:lvl2pPr marL="900044" indent="0">
              <a:buNone/>
              <a:defRPr sz="5512"/>
            </a:lvl2pPr>
            <a:lvl3pPr marL="1800088" indent="0">
              <a:buNone/>
              <a:defRPr sz="4725"/>
            </a:lvl3pPr>
            <a:lvl4pPr marL="2700132" indent="0">
              <a:buNone/>
              <a:defRPr sz="3937"/>
            </a:lvl4pPr>
            <a:lvl5pPr marL="3600176" indent="0">
              <a:buNone/>
              <a:defRPr sz="3937"/>
            </a:lvl5pPr>
            <a:lvl6pPr marL="4500220" indent="0">
              <a:buNone/>
              <a:defRPr sz="3937"/>
            </a:lvl6pPr>
            <a:lvl7pPr marL="5400264" indent="0">
              <a:buNone/>
              <a:defRPr sz="3937"/>
            </a:lvl7pPr>
            <a:lvl8pPr marL="6300307" indent="0">
              <a:buNone/>
              <a:defRPr sz="3937"/>
            </a:lvl8pPr>
            <a:lvl9pPr marL="7200351" indent="0">
              <a:buNone/>
              <a:defRPr sz="3937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7559993"/>
            <a:ext cx="5805682" cy="14005821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84142-C44D-43ED-B6FC-9AFBB921F87B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11C-8791-4FF9-88FC-7FA07CF60C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8048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84142-C44D-43ED-B6FC-9AFBB921F87B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11C-8791-4FF9-88FC-7FA07CF60C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7897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5" y="1341665"/>
            <a:ext cx="3881393" cy="21355814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6" y="1341665"/>
            <a:ext cx="11419171" cy="21355814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84142-C44D-43ED-B6FC-9AFBB921F87B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11C-8791-4FF9-88FC-7FA07CF60C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6205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1341671"/>
            <a:ext cx="15525572" cy="4870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6708326"/>
            <a:ext cx="15525572" cy="15989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23356649"/>
            <a:ext cx="4050149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884142-C44D-43ED-B6FC-9AFBB921F87B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23356649"/>
            <a:ext cx="6075224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23356649"/>
            <a:ext cx="4050149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9F311C-8791-4FF9-88FC-7FA07CF60C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905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1800088" rtl="0" eaLnBrk="1" latinLnBrk="0" hangingPunct="1">
        <a:lnSpc>
          <a:spcPct val="90000"/>
        </a:lnSpc>
        <a:spcBef>
          <a:spcPct val="0"/>
        </a:spcBef>
        <a:buNone/>
        <a:defRPr kumimoji="1" sz="86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0022" indent="-450022" algn="l" defTabSz="1800088" rtl="0" eaLnBrk="1" latinLnBrk="0" hangingPunct="1">
        <a:lnSpc>
          <a:spcPct val="90000"/>
        </a:lnSpc>
        <a:spcBef>
          <a:spcPts val="1969"/>
        </a:spcBef>
        <a:buFont typeface="Arial" panose="020B0604020202020204" pitchFamily="34" charset="0"/>
        <a:buChar char="•"/>
        <a:defRPr kumimoji="1" sz="5512" kern="1200">
          <a:solidFill>
            <a:schemeClr val="tx1"/>
          </a:solidFill>
          <a:latin typeface="+mn-lt"/>
          <a:ea typeface="+mn-ea"/>
          <a:cs typeface="+mn-cs"/>
        </a:defRPr>
      </a:lvl1pPr>
      <a:lvl2pPr marL="1350066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kumimoji="1"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250110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kumimoji="1" sz="3937" kern="1200">
          <a:solidFill>
            <a:schemeClr val="tx1"/>
          </a:solidFill>
          <a:latin typeface="+mn-lt"/>
          <a:ea typeface="+mn-ea"/>
          <a:cs typeface="+mn-cs"/>
        </a:defRPr>
      </a:lvl3pPr>
      <a:lvl4pPr marL="3150154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4050198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950242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850285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750329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650373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00088" rtl="0" eaLnBrk="1" latinLnBrk="0" hangingPunct="1"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1pPr>
      <a:lvl2pPr marL="900044" algn="l" defTabSz="1800088" rtl="0" eaLnBrk="1" latinLnBrk="0" hangingPunct="1"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800088" algn="l" defTabSz="1800088" rtl="0" eaLnBrk="1" latinLnBrk="0" hangingPunct="1"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700132" algn="l" defTabSz="1800088" rtl="0" eaLnBrk="1" latinLnBrk="0" hangingPunct="1"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3600176" algn="l" defTabSz="1800088" rtl="0" eaLnBrk="1" latinLnBrk="0" hangingPunct="1"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500220" algn="l" defTabSz="1800088" rtl="0" eaLnBrk="1" latinLnBrk="0" hangingPunct="1"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400264" algn="l" defTabSz="1800088" rtl="0" eaLnBrk="1" latinLnBrk="0" hangingPunct="1"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300307" algn="l" defTabSz="1800088" rtl="0" eaLnBrk="1" latinLnBrk="0" hangingPunct="1"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200351" algn="l" defTabSz="1800088" rtl="0" eaLnBrk="1" latinLnBrk="0" hangingPunct="1"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789526-7139-BC70-2F9B-FE2E7E207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26EE93C-4312-11DE-2474-471EC528272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C0C0C"/>
              </a:clrFrom>
              <a:clrTo>
                <a:srgbClr val="0C0C0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80092" y="12599986"/>
            <a:ext cx="13016088" cy="12247926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D66CE19-FFAB-713F-1E2E-0EA7D03F2E99}"/>
              </a:ext>
            </a:extLst>
          </p:cNvPr>
          <p:cNvSpPr txBox="1"/>
          <p:nvPr/>
        </p:nvSpPr>
        <p:spPr>
          <a:xfrm>
            <a:off x="1" y="2254834"/>
            <a:ext cx="1800066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3000" b="1" dirty="0">
                <a:solidFill>
                  <a:srgbClr val="FDF6E3"/>
                </a:solidFill>
              </a:rPr>
              <a:t>ちいさくはじめる </a:t>
            </a:r>
            <a:r>
              <a:rPr kumimoji="1" lang="en-US" altLang="ja-JP" sz="13000" b="1" dirty="0">
                <a:solidFill>
                  <a:srgbClr val="FDF6E3"/>
                </a:solidFill>
              </a:rPr>
              <a:t>Nix</a:t>
            </a:r>
            <a:endParaRPr kumimoji="1" lang="ja-JP" altLang="en-US" sz="13000" b="1" dirty="0">
              <a:solidFill>
                <a:srgbClr val="FDF6E3"/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473A7D2-9B42-E9AF-740F-AEFE324B354E}"/>
              </a:ext>
            </a:extLst>
          </p:cNvPr>
          <p:cNvSpPr txBox="1"/>
          <p:nvPr/>
        </p:nvSpPr>
        <p:spPr>
          <a:xfrm>
            <a:off x="2" y="4597795"/>
            <a:ext cx="180006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7200" dirty="0">
                <a:solidFill>
                  <a:srgbClr val="FDF6E3"/>
                </a:solidFill>
              </a:rPr>
              <a:t>導入から実践まで体系的に学ぶ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A1D95B3-EDB1-8CAA-746A-71FFB4490721}"/>
              </a:ext>
            </a:extLst>
          </p:cNvPr>
          <p:cNvSpPr txBox="1"/>
          <p:nvPr/>
        </p:nvSpPr>
        <p:spPr>
          <a:xfrm>
            <a:off x="887483" y="6440596"/>
            <a:ext cx="1687483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 dirty="0">
                <a:solidFill>
                  <a:srgbClr val="4D6FB7"/>
                </a:solidFill>
                <a:ea typeface="Ricty Diminished" panose="020B0509020203020207" pitchFamily="49" charset="-128"/>
                <a:cs typeface="Cascadia Code" panose="020B0609020000020004" pitchFamily="49" charset="0"/>
              </a:rPr>
              <a:t>$</a:t>
            </a:r>
            <a:r>
              <a:rPr kumimoji="1" lang="en-US" altLang="ja-JP" sz="5400" dirty="0">
                <a:solidFill>
                  <a:srgbClr val="FDF6E3"/>
                </a:solidFill>
                <a:ea typeface="Ricty Diminished" panose="020B0509020203020207" pitchFamily="49" charset="-128"/>
                <a:cs typeface="Cascadia Code" panose="020B0609020000020004" pitchFamily="49" charset="0"/>
              </a:rPr>
              <a:t> nix run nixpkgs#fastfetch</a:t>
            </a:r>
          </a:p>
          <a:p>
            <a:r>
              <a:rPr kumimoji="1" lang="en-US" altLang="ja-JP" sz="5400" dirty="0">
                <a:solidFill>
                  <a:srgbClr val="77B6E1"/>
                </a:solidFill>
                <a:ea typeface="Ricty Diminished" panose="020B0509020203020207" pitchFamily="49" charset="-128"/>
                <a:cs typeface="Cascadia Code" panose="020B0609020000020004" pitchFamily="49" charset="0"/>
              </a:rPr>
              <a:t>ryu_trifolium</a:t>
            </a:r>
            <a:r>
              <a:rPr kumimoji="1" lang="en-US" altLang="ja-JP" sz="5400" dirty="0">
                <a:solidFill>
                  <a:srgbClr val="FDF6E3"/>
                </a:solidFill>
                <a:ea typeface="Ricty Diminished" panose="020B0509020203020207" pitchFamily="49" charset="-128"/>
                <a:cs typeface="Cascadia Code" panose="020B0609020000020004" pitchFamily="49" charset="0"/>
              </a:rPr>
              <a:t>@</a:t>
            </a:r>
            <a:r>
              <a:rPr kumimoji="1" lang="en-US" altLang="ja-JP" sz="5400" dirty="0">
                <a:solidFill>
                  <a:srgbClr val="77B6E1"/>
                </a:solidFill>
                <a:ea typeface="Ricty Diminished" panose="020B0509020203020207" pitchFamily="49" charset="-128"/>
                <a:cs typeface="Cascadia Code" panose="020B0609020000020004" pitchFamily="49" charset="0"/>
              </a:rPr>
              <a:t>zenn</a:t>
            </a:r>
          </a:p>
          <a:p>
            <a:r>
              <a:rPr kumimoji="1" lang="en-US" altLang="ja-JP" sz="5400" dirty="0">
                <a:solidFill>
                  <a:srgbClr val="FDF6E3"/>
                </a:solidFill>
                <a:ea typeface="Ricty Diminished" panose="020B0509020203020207" pitchFamily="49" charset="-128"/>
                <a:cs typeface="Cascadia Code" panose="020B0609020000020004" pitchFamily="49" charset="0"/>
              </a:rPr>
              <a:t>------------------------</a:t>
            </a:r>
          </a:p>
          <a:p>
            <a:r>
              <a:rPr kumimoji="1" lang="en-US" altLang="ja-JP" sz="5400" dirty="0">
                <a:solidFill>
                  <a:srgbClr val="77B6E1"/>
                </a:solidFill>
                <a:ea typeface="Ricty Diminished" panose="020B0509020203020207" pitchFamily="49" charset="-128"/>
                <a:cs typeface="Cascadia Code" panose="020B0609020000020004" pitchFamily="49" charset="0"/>
              </a:rPr>
              <a:t>Target</a:t>
            </a:r>
            <a:r>
              <a:rPr kumimoji="1" lang="en-US" altLang="ja-JP" sz="5400" dirty="0">
                <a:solidFill>
                  <a:srgbClr val="FDF6E3"/>
                </a:solidFill>
                <a:ea typeface="Ricty Diminished" panose="020B0509020203020207" pitchFamily="49" charset="-128"/>
                <a:cs typeface="Cascadia Code" panose="020B0609020000020004" pitchFamily="49" charset="0"/>
              </a:rPr>
              <a:t>:  Beginner</a:t>
            </a:r>
          </a:p>
          <a:p>
            <a:r>
              <a:rPr kumimoji="1" lang="en-US" altLang="ja-JP" sz="5400" dirty="0">
                <a:solidFill>
                  <a:srgbClr val="77B6E1"/>
                </a:solidFill>
                <a:ea typeface="Ricty Diminished" panose="020B0509020203020207" pitchFamily="49" charset="-128"/>
                <a:cs typeface="Cascadia Code" panose="020B0609020000020004" pitchFamily="49" charset="0"/>
              </a:rPr>
              <a:t>Theme</a:t>
            </a:r>
            <a:r>
              <a:rPr kumimoji="1" lang="en-US" altLang="ja-JP" sz="5400" dirty="0">
                <a:solidFill>
                  <a:srgbClr val="FDF6E3"/>
                </a:solidFill>
                <a:ea typeface="Ricty Diminished" panose="020B0509020203020207" pitchFamily="49" charset="-128"/>
                <a:cs typeface="Cascadia Code" panose="020B0609020000020004" pitchFamily="49" charset="0"/>
              </a:rPr>
              <a:t>:  Nix – Package Manager</a:t>
            </a:r>
          </a:p>
          <a:p>
            <a:r>
              <a:rPr kumimoji="1" lang="en-US" altLang="ja-JP" sz="5400" dirty="0">
                <a:solidFill>
                  <a:srgbClr val="77B6E1"/>
                </a:solidFill>
                <a:ea typeface="Ricty Diminished" panose="020B0509020203020207" pitchFamily="49" charset="-128"/>
                <a:cs typeface="Cascadia Code" panose="020B0609020000020004" pitchFamily="49" charset="0"/>
              </a:rPr>
              <a:t>Concepts</a:t>
            </a:r>
            <a:r>
              <a:rPr kumimoji="1" lang="en-US" altLang="ja-JP" sz="5400" dirty="0">
                <a:solidFill>
                  <a:srgbClr val="FDF6E3"/>
                </a:solidFill>
                <a:ea typeface="Ricty Diminished" panose="020B0509020203020207" pitchFamily="49" charset="-128"/>
                <a:cs typeface="Cascadia Code" panose="020B0609020000020004" pitchFamily="49" charset="0"/>
              </a:rPr>
              <a:t>:  Reproducible / Declarative / Reliable</a:t>
            </a:r>
          </a:p>
          <a:p>
            <a:r>
              <a:rPr kumimoji="1" lang="en-US" altLang="ja-JP" sz="5400" dirty="0">
                <a:solidFill>
                  <a:srgbClr val="77B6E1"/>
                </a:solidFill>
                <a:ea typeface="Ricty Diminished" panose="020B0509020203020207" pitchFamily="49" charset="-128"/>
                <a:cs typeface="Cascadia Code" panose="020B0609020000020004" pitchFamily="49" charset="0"/>
              </a:rPr>
              <a:t>Tools</a:t>
            </a:r>
            <a:r>
              <a:rPr kumimoji="1" lang="en-US" altLang="ja-JP" sz="5400" dirty="0">
                <a:solidFill>
                  <a:srgbClr val="FDF6E3"/>
                </a:solidFill>
                <a:ea typeface="Ricty Diminished" panose="020B0509020203020207" pitchFamily="49" charset="-128"/>
                <a:cs typeface="Cascadia Code" panose="020B0609020000020004" pitchFamily="49" charset="0"/>
              </a:rPr>
              <a:t>:  Home Manager</a:t>
            </a:r>
            <a:r>
              <a:rPr kumimoji="1" lang="ja-JP" altLang="en-US" sz="5400" dirty="0">
                <a:solidFill>
                  <a:srgbClr val="FDF6E3"/>
                </a:solidFill>
                <a:ea typeface="Ricty Diminished" panose="020B0509020203020207" pitchFamily="49" charset="-128"/>
                <a:cs typeface="Cascadia Code" panose="020B0609020000020004" pitchFamily="49" charset="0"/>
              </a:rPr>
              <a:t> </a:t>
            </a:r>
            <a:r>
              <a:rPr kumimoji="1" lang="en-US" altLang="ja-JP" sz="5400" dirty="0">
                <a:solidFill>
                  <a:srgbClr val="FDF6E3"/>
                </a:solidFill>
                <a:ea typeface="Ricty Diminished" panose="020B0509020203020207" pitchFamily="49" charset="-128"/>
                <a:cs typeface="Cascadia Code" panose="020B0609020000020004" pitchFamily="49" charset="0"/>
              </a:rPr>
              <a:t>/ nix-darwin</a:t>
            </a:r>
            <a:r>
              <a:rPr kumimoji="1" lang="ja-JP" altLang="en-US" sz="5400" dirty="0">
                <a:solidFill>
                  <a:srgbClr val="FDF6E3"/>
                </a:solidFill>
                <a:ea typeface="Ricty Diminished" panose="020B0509020203020207" pitchFamily="49" charset="-128"/>
                <a:cs typeface="Cascadia Code" panose="020B0609020000020004" pitchFamily="49" charset="0"/>
              </a:rPr>
              <a:t> </a:t>
            </a:r>
            <a:r>
              <a:rPr kumimoji="1" lang="en-US" altLang="ja-JP" sz="5400" dirty="0">
                <a:solidFill>
                  <a:srgbClr val="FDF6E3"/>
                </a:solidFill>
                <a:ea typeface="Ricty Diminished" panose="020B0509020203020207" pitchFamily="49" charset="-128"/>
                <a:cs typeface="Cascadia Code" panose="020B0609020000020004" pitchFamily="49" charset="0"/>
              </a:rPr>
              <a:t>/</a:t>
            </a:r>
            <a:r>
              <a:rPr kumimoji="1" lang="ja-JP" altLang="en-US" sz="5400" dirty="0">
                <a:solidFill>
                  <a:srgbClr val="FDF6E3"/>
                </a:solidFill>
                <a:ea typeface="Ricty Diminished" panose="020B0509020203020207" pitchFamily="49" charset="-128"/>
                <a:cs typeface="Cascadia Code" panose="020B0609020000020004" pitchFamily="49" charset="0"/>
              </a:rPr>
              <a:t> </a:t>
            </a:r>
            <a:r>
              <a:rPr kumimoji="1" lang="en-US" altLang="ja-JP" sz="5400" dirty="0">
                <a:solidFill>
                  <a:srgbClr val="FDF6E3"/>
                </a:solidFill>
                <a:ea typeface="Ricty Diminished" panose="020B0509020203020207" pitchFamily="49" charset="-128"/>
                <a:cs typeface="Cascadia Code" panose="020B0609020000020004" pitchFamily="49" charset="0"/>
              </a:rPr>
              <a:t>Flakes devShell</a:t>
            </a:r>
          </a:p>
        </p:txBody>
      </p:sp>
    </p:spTree>
    <p:extLst>
      <p:ext uri="{BB962C8B-B14F-4D97-AF65-F5344CB8AC3E}">
        <p14:creationId xmlns:p14="http://schemas.microsoft.com/office/powerpoint/2010/main" val="2944368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59EB2-DE87-A90A-CCC2-2B5C1BE1F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9AE3CF8-D373-569B-9083-35752799BEA6}"/>
              </a:ext>
            </a:extLst>
          </p:cNvPr>
          <p:cNvSpPr/>
          <p:nvPr/>
        </p:nvSpPr>
        <p:spPr>
          <a:xfrm>
            <a:off x="14191875" y="9868926"/>
            <a:ext cx="12791238" cy="11744165"/>
          </a:xfrm>
          <a:prstGeom prst="rect">
            <a:avLst/>
          </a:prstGeom>
          <a:solidFill>
            <a:srgbClr val="4D6F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A450929D-24D5-25DD-72F0-6EDC3F266125}"/>
              </a:ext>
            </a:extLst>
          </p:cNvPr>
          <p:cNvSpPr/>
          <p:nvPr/>
        </p:nvSpPr>
        <p:spPr>
          <a:xfrm>
            <a:off x="174172" y="9024705"/>
            <a:ext cx="12328170" cy="11806991"/>
          </a:xfrm>
          <a:prstGeom prst="rect">
            <a:avLst/>
          </a:prstGeom>
          <a:solidFill>
            <a:srgbClr val="77B6E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930E81E9-FA10-237E-83A0-4DAFDD11B29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61D6D6"/>
              </a:clrFrom>
              <a:clrTo>
                <a:srgbClr val="61D6D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113" y="8926352"/>
            <a:ext cx="13014921" cy="12245025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876EA54-6B29-9DA0-7B96-BC0B31FDF3F2}"/>
              </a:ext>
            </a:extLst>
          </p:cNvPr>
          <p:cNvSpPr txBox="1"/>
          <p:nvPr/>
        </p:nvSpPr>
        <p:spPr>
          <a:xfrm>
            <a:off x="837675" y="961614"/>
            <a:ext cx="11431909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 dirty="0"/>
              <a:t># Color</a:t>
            </a:r>
          </a:p>
          <a:p>
            <a:r>
              <a:rPr kumimoji="1" lang="en-US" altLang="ja-JP" sz="4000" dirty="0"/>
              <a:t>Back: #002B36 -&gt; Solarized Dark base03 </a:t>
            </a:r>
          </a:p>
          <a:p>
            <a:r>
              <a:rPr kumimoji="1" lang="en-US" altLang="ja-JP" sz="4000" dirty="0"/>
              <a:t>Main: #fdf6e3 -&gt; Solarized White base3</a:t>
            </a:r>
          </a:p>
          <a:p>
            <a:r>
              <a:rPr kumimoji="1" lang="en-US" altLang="ja-JP" sz="4000" dirty="0"/>
              <a:t>Accent : #77b6e1 -&gt; </a:t>
            </a:r>
            <a:r>
              <a:rPr kumimoji="1" lang="en-US" altLang="ja-JP" sz="4000" dirty="0" err="1"/>
              <a:t>NixOS</a:t>
            </a:r>
            <a:r>
              <a:rPr kumimoji="1" lang="en-US" altLang="ja-JP" sz="4000" dirty="0"/>
              <a:t> Light Blue</a:t>
            </a:r>
          </a:p>
          <a:p>
            <a:r>
              <a:rPr kumimoji="1" lang="en-US" altLang="ja-JP" sz="4000" dirty="0"/>
              <a:t>Sub-accent: #4d6fb7 -&gt; </a:t>
            </a:r>
            <a:r>
              <a:rPr lang="en-US" altLang="ja-JP" sz="4000" dirty="0" err="1"/>
              <a:t>NixOS</a:t>
            </a:r>
            <a:r>
              <a:rPr lang="en-US" altLang="ja-JP" sz="4000" dirty="0"/>
              <a:t> Dark Blue</a:t>
            </a:r>
            <a:br>
              <a:rPr lang="en-US" altLang="ja-JP" sz="4000" dirty="0"/>
            </a:br>
            <a:br>
              <a:rPr lang="en-US" altLang="ja-JP" sz="4000" dirty="0"/>
            </a:br>
            <a:r>
              <a:rPr lang="en-US" altLang="ja-JP" sz="4000" dirty="0"/>
              <a:t># Font</a:t>
            </a:r>
          </a:p>
          <a:p>
            <a:r>
              <a:rPr kumimoji="1" lang="en-US" altLang="ja-JP" sz="4000" dirty="0"/>
              <a:t>JP: Noto Sans JP</a:t>
            </a:r>
          </a:p>
          <a:p>
            <a:r>
              <a:rPr kumimoji="1" lang="en-US" altLang="ja-JP" sz="4000" dirty="0"/>
              <a:t>EN: Route 159 -&gt; </a:t>
            </a:r>
            <a:r>
              <a:rPr lang="en-US" altLang="ja-JP" sz="4000" dirty="0" err="1"/>
              <a:t>NixOS</a:t>
            </a:r>
            <a:r>
              <a:rPr lang="en-US" altLang="ja-JP" sz="4000" dirty="0"/>
              <a:t> typeface</a:t>
            </a:r>
          </a:p>
          <a:p>
            <a:endParaRPr kumimoji="1" lang="en-US" altLang="ja-JP" sz="4000" dirty="0"/>
          </a:p>
          <a:p>
            <a:r>
              <a:rPr kumimoji="1" lang="en-US" altLang="ja-JP" sz="4000" dirty="0"/>
              <a:t># Logo Guide</a:t>
            </a:r>
          </a:p>
          <a:p>
            <a:r>
              <a:rPr kumimoji="1" lang="en-US" altLang="ja-JP" sz="4000" dirty="0"/>
              <a:t>https://nixos.org/branding/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B6852363-5221-B987-7E78-BE8C21017B3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3B78FF"/>
              </a:clrFrom>
              <a:clrTo>
                <a:srgbClr val="3B78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104791" y="9781770"/>
            <a:ext cx="13016088" cy="12247926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64213DF0-54A5-0202-2B81-A002C9D904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290457" y="22592805"/>
            <a:ext cx="13016088" cy="12247926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71069CD6-E4D8-78A6-0D52-8100A0EFB4E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0C0C0C"/>
              </a:clrFrom>
              <a:clrTo>
                <a:srgbClr val="0C0C0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06434" y="23335411"/>
            <a:ext cx="13016088" cy="1224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901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ix">
      <a:majorFont>
        <a:latin typeface="Route 159"/>
        <a:ea typeface="Noto Sans JP"/>
        <a:cs typeface=""/>
      </a:majorFont>
      <a:minorFont>
        <a:latin typeface="Route 159"/>
        <a:ea typeface="Noto Sans JP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241</TotalTime>
  <Words>109</Words>
  <Application>Microsoft Office PowerPoint</Application>
  <PresentationFormat>ユーザー設定</PresentationFormat>
  <Paragraphs>20</Paragraphs>
  <Slides>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Ricty Diminished</vt:lpstr>
      <vt:lpstr>游ゴシック</vt:lpstr>
      <vt:lpstr>Arial</vt:lpstr>
      <vt:lpstr>Route 159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 ryu</dc:creator>
  <cp:lastModifiedBy>B ryu</cp:lastModifiedBy>
  <cp:revision>19</cp:revision>
  <dcterms:created xsi:type="dcterms:W3CDTF">2026-03-01T13:56:52Z</dcterms:created>
  <dcterms:modified xsi:type="dcterms:W3CDTF">2026-03-17T13:39:03Z</dcterms:modified>
</cp:coreProperties>
</file>